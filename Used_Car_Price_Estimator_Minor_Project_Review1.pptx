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seconds: greet the panel, state the title, introduce the three team members and the guide, Dr. G. S. Raghavendra. Do not read the slide word for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agenda brief. Spend the most time on the literature survey, objectives and work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broad (used-car valuation), end narrow (our regression task). The market figure comes from reference [1]. The chart is drawn from our own dataset, which is simulated, so it illustrates depreciation and is not real market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One-sentence problem statement. Beneficiaries: buyers, sellers, dealers, platforms. Cost: about 20% depreciation per year [1]. Why now: inconsistent platform pricing and small-data studies.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the table. Trend: Random Forest and boosting models win, but the studies use small or single-city data, show overfitting, and mostly stop at metrics. Be ready to name other papers surveyed.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maps to the last column of the survey table. Be ready for the question about the simulated dataset: say it was generated on Indian-market patterns and that validation on real listings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and results match one-to-one: dataset of 3,686 cleaned records; pipeline with three regressors; R² 98.02% and MAE 0.37 lakh; Flask web app and REST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input form or JSON, pre-processing, Gradient Boosting, price band in the UI. The box below names what flows on each arrow. Keep this slide open during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modules let each team member explain their own part: data, processing, core model,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Versions from requirements.txt: Flask 3.0+, scikit-learn 1.4+, pandas 2.2+, NumPy 1.26+, joblib 1.3+.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run python app.py, open 127.0.0.1:5001, click the Hyundai Creta preset and show the price, the fair band and the latency. Be honest: the 98.02% R² is on a held-out 20% split (738 records) of a simulated dataset; real-data validation is still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Reviews 0 and 1 are complete. For the remaining weeks: real-data validation, cross-validation and tuning, cloud deployment, report and paper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introduce anything new here. Restate the problem, the gap and what the system delivers.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[1]-[4] are the surveyed papers; [5]-[8] support the methodology. All appear in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architecture slide open during questions - most panel questions point back to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age_chart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ui_shot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  •  BOWRAMPET CAMPUS, HYDERABAD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Used Car Price Estimator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420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fair market value of pre-owned vehicles using regression-based machine learning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33649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6576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2520030314   B Rishik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2520030558   Rohan V</a:t>
            </a:r>
            <a:endParaRPr lang="en-US" sz="14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2520030618   M Nityay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92240" y="3200400"/>
            <a:ext cx="5029200" cy="2148840"/>
          </a:xfrm>
          <a:prstGeom prst="roundRect">
            <a:avLst>
              <a:gd name="adj" fmla="val 3404"/>
            </a:avLst>
          </a:prstGeom>
          <a:solidFill>
            <a:srgbClr val="1B2A55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20840" y="3364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G. S. Raghavendra Sir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40690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KLH University, Bowrampet Campus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II Year  |  Minor Project - Review 1  |  Academic Year 2026-27  |  Date: 13-10-2026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Domain Background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6187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Identified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Project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6187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141732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152704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931152" y="141732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Modules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2167128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2276856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40080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931152" y="2167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Technologies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217920" y="2916936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0" y="302666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931152" y="291693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/ Demo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217920" y="3666744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0800" y="377647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4008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6931152" y="366674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Review Plan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217920" y="4416552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452628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400800" y="4526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931152" y="44165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 &amp; Conclusion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17920" y="5166360"/>
            <a:ext cx="5349240" cy="603504"/>
          </a:xfrm>
          <a:prstGeom prst="roundRect">
            <a:avLst>
              <a:gd name="adj" fmla="val 121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0" y="527608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0080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6931152" y="516636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Domain Background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583680" cy="4480560"/>
          </a:xfrm>
          <a:prstGeom prst="roundRect">
            <a:avLst>
              <a:gd name="adj" fmla="val 16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domain?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valuation is a supervised regression task: predict a resale price from age, mileage, brand, engine specification, fuel, transmission and ownership.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relevant today?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used-car market was valued at USD 24.24 billion in 2019, with a forecast growth of about 15% a year [1].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your project sit?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and compare three regressors to estimate a fair resale price for Indian cars and serve it as a web app and REST API.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06640" y="1417320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406640" y="4434840"/>
            <a:ext cx="4206240" cy="1463040"/>
          </a:xfrm>
          <a:prstGeom prst="roundRect">
            <a:avLst>
              <a:gd name="adj" fmla="val 5000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40" y="4572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864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regressors on a multi-brand dataset; the best one (Gradient Boosting, R² 98.02%) is served through a web app and REST API.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pic>
        <p:nvPicPr>
          <p:cNvPr id="13" name="Picture 13" descr="Bar chart: median resale price in lakh rupees falls steadily as car age increases from 2 to 12 yea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417320"/>
            <a:ext cx="4206240" cy="2834640"/>
          </a:xfrm>
          <a:prstGeom prst="roundRect">
            <a:avLst>
              <a:gd name="adj" fmla="val 2500"/>
            </a:avLst>
          </a:prstGeom>
          <a:ln w="12700">
            <a:solidFill>
              <a:srgbClr val="DDE3EC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F7EAE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1600200"/>
          </a:xfrm>
          <a:prstGeom prst="roundRect">
            <a:avLst>
              <a:gd name="adj" fmla="val 41667"/>
            </a:avLst>
          </a:prstGeom>
          <a:solidFill>
            <a:srgbClr val="A4161A"/>
          </a:solidFill>
          <a:ln w="127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627632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920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“Existing used-car pricing fails to give a fair, data-driven valuation because it depends on subjective dealer markups and rule-of-thumb appraisal, which results in overpriced listings, low-ball offers and unfair deals.”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buyers, sellers, dealers and online marketplaces in India - anyone who needs a trustworthy resale price before negotiating.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9768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cost of the problem?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loses about 20% of its value every year [1], so a mispriced listing can swing a deal by a full year of depreciation; manual appraisal is slow and does not scale online.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606040"/>
          </a:xfrm>
          <a:prstGeom prst="roundRect">
            <a:avLst>
              <a:gd name="adj" fmla="val 28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52044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40233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solve it now?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452628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price cars with differing algorithms and can give inconsistent results [1], and recent studies rely on small or single-city data [1]-[4].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of the most relevant papers on used-car price prediction (2021 onward); full citations on slide 14.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2743200"/>
                <a:gridCol w="173736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 &amp; Year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 / Technique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Longani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(2021) [1]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Used-car price prediction with Random Forest vs XGBoost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listings (2,454 records); Python, scikit-learn, Flask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RMSE 0.53 vs Random Forest 3.44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city; only two models compared; no linear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Bhatnagar et 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 [2]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Voting, Gradient Boosting, RF, Decision Tree, SVR and Linear Regression; GridSearchCV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200+ cars, 26 parameters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accuracy: RF 89.75%, GB 88.67%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dataset; GB falls from 97.84% (train) to 88.67% (test)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 [3]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Linear, Ridge and Random Forest regression with RandomizedSearchCV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CarDekho listings (India); pandas, scikit-learn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best of three models (80/20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sample, possible overfitting; no boosting model tested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(2024) [4]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Linear, Decision Tree, RF and XGBoost with cross-validation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Ford data: 17,966 entries, 9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best, R² = 0.9347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one brand (Ford)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t">
                    <a:lnL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gap: small or single-source data, limited validation and no ready-to-use estimator - see Research Gap.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47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Data-level gap: existing work uses small or single-source data - one city, one brand or about 200 cars [1], [2], [4] - so it does not generalise to a multi-brand Indian market.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34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0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Method-level gap: existing models are validated on limited data and show overfitting (train 97.84% vs test 88.67% in [2]; small sample in [3]).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6766560" cy="987552"/>
          </a:xfrm>
          <a:prstGeom prst="roundRect">
            <a:avLst>
              <a:gd name="adj" fmla="val 7407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770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4133088"/>
            <a:ext cx="617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gap: most surveyed work ends at model comparison ([2]-[4] report metrics only); [1] offers a Mumbai-only web UI.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35240" y="1463040"/>
            <a:ext cx="3977640" cy="3502152"/>
          </a:xfrm>
          <a:prstGeom prst="roundRect">
            <a:avLst>
              <a:gd name="adj" fmla="val 2089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ADDRESSES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205740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 all three: 10-brand data (3,686 records), three models with feature importance, and a live web app + REST API.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97764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our dataset is simulated on Indian-market patterns (generate_dataset.py); validation on real listings is the next step.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206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above is traced to the Limitation / Gap column of the literature survey on slide 5.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demonstrable objectives - each one is matched to a module (slide 9) and a result (slide 11).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627632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prepare a multi-brand Indian used-car dataset (3,825 simulated listings, 12 attributes), cleaned to 3,686 records with an 80/20 train-test split.</a:t>
            </a:r>
            <a:pPr indent="0" marL="0">
              <a:buNone/>
            </a:pP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971800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706624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&amp; implement a scikit-learn pipeline (car_age, km_per_year, power_per_liter features) with Linear, Random Forest and Gradient Boosting regressors.</a:t>
            </a:r>
            <a:pPr indent="0" marL="0">
              <a:buNone/>
            </a:pP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050792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785616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models using R², MAE and RMSE against a target of R² above 85% and response under 1 s, and to report feature importance.</a:t>
            </a:r>
            <a:pPr indent="0" marL="0">
              <a:buNone/>
            </a:pP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129784"/>
            <a:ext cx="384048" cy="384048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864608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deploy a Flask web app and REST API (/api/predict) that return an instant price estimate with a fair negotiation band.</a:t>
            </a:r>
            <a:pPr indent="0" marL="0">
              <a:buNone/>
            </a:pP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check: R² 98.02%, MAE ₹0.37 L and &lt; 15 ms latency in the current build.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form or JSON request: brand, model, year, km driven, fuel, transmission, owner, engine, power, mileage, seats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82112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38144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5304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75304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gaps; derive car_age, km_per_year, power_per_liter; scale numerics and one-hot encode categories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71616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27648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 (best of Linear, Random Forest and Gradient Boosting)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2404872"/>
            <a:ext cx="201168" cy="310896"/>
          </a:xfrm>
          <a:prstGeom prst="rightArrow">
            <a:avLst/>
          </a:prstGeom>
          <a:solidFill>
            <a:srgbClr val="C8A02C"/>
          </a:solidFill>
          <a:ln w="12700">
            <a:solidFill>
              <a:srgbClr val="C8A0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17152" y="169164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54312" y="1920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354312" y="2286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price in ₹ lakhs with a ±5% band, insights and latency shown in the UI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7315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6858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 b="1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- what travels along each arrow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1 (Input to Pre-processing): vehicle record - 11 fields as form values or a JSON request.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2 (Pre-processing to Core): 13 engineered features - scaled numerics plus one-hot encoded categories.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3 (Core to Output): predicted price in ₹ lakhs, returned as JSON with a ±5% fair band.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2440" y="374904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0" y="39319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inference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425196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used_cars.csv, train_model.py, then best_model.joblib (Gradient Boosting pipeline). Online: Flask /api/predict loads the pipeline and answers in &lt; 15 ms.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Modules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1 - Data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used_cars.csv: 3,825 raw listings (10 brands, 47 models, 12 attributes) simulated on Indian marketplace patterns. 3,686 records after cleaning; 80/20 split = 2,948 train / 738 test.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73736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556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2 - Processing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33172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duplicates, median-impute gaps, trim outliers (1st-99th percentile). Derive car_age, km_per_year, power_per_liter; scale and one-hot encode inside a scikit-learn Pipeline [5].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3 - Core Logic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[6], Random Forest [7] and Gradient Boosting [8] compared. Gradient Boosting was chosen for the lowest error (R² 98.02%, MAE ₹0.37 L).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3977640"/>
            <a:ext cx="411480" cy="411480"/>
          </a:xfrm>
          <a:prstGeom prst="ellipse">
            <a:avLst/>
          </a:prstGeom>
          <a:solidFill>
            <a:srgbClr val="1B2A5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99592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4 - Interface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5720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 end serves the saved joblib pipeline at /api/predict; HTML/CSS/JS front end with Chart.js, 1-click presets and a live API tester. Run: python app.py.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Python 3.10+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scikit-learn, pandas, NumPy, joblib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end: HTML, CSS, JavaScript, Chart.js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end: Flask (REST API at /api/predict)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store: CSV file (used_cars.csv)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store: joblib pipeline + JSON metadata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6916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PLATFORM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03120"/>
            <a:ext cx="4709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Processor: Intel i5 or above (CPU only)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8 GB recommended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/ Cloud: not required (about 1 s to train a model)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Devices: none - runs in any web browser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localhost (Flask, port 5001)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Git / GitHub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/ Demo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55064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4630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46304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68296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17627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081528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97280" y="288950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Pre-processing pipeline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88950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794760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7280" y="360273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360273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507992"/>
            <a:ext cx="182880" cy="182880"/>
          </a:xfrm>
          <a:prstGeom prst="ellipse">
            <a:avLst/>
          </a:prstGeom>
          <a:solidFill>
            <a:srgbClr val="1E7A4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97280" y="4315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(Flask web app + API)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1596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852160" cy="566928"/>
          </a:xfrm>
          <a:prstGeom prst="roundRect">
            <a:avLst>
              <a:gd name="adj" fmla="val 1290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221224"/>
            <a:ext cx="182880" cy="182880"/>
          </a:xfrm>
          <a:prstGeom prst="ellipse">
            <a:avLst/>
          </a:prstGeom>
          <a:solidFill>
            <a:srgbClr val="C8A02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97280" y="50292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 (real-data check)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0292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463040"/>
            <a:ext cx="4937760" cy="2788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9AA5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4434840"/>
            <a:ext cx="4937760" cy="1463040"/>
          </a:xfrm>
          <a:prstGeom prst="roundRect">
            <a:avLst>
              <a:gd name="adj" fmla="val 7273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452628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AutoValuate web UI running locally: Gradient Boosting, R² 98.02%, MAE ₹0.37 L, &lt; 15 ms per prediction.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34" name="Picture 34" descr="Screenshot of the AutoValuate web app showing 98.02% R-squared, under 15 ms latency and Gradient Boosting as the active 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554480"/>
            <a:ext cx="4754880" cy="2606040"/>
          </a:xfrm>
          <a:prstGeom prst="roundRect">
            <a:avLst>
              <a:gd name="adj" fmla="val 2500"/>
            </a:avLst>
          </a:prstGeom>
          <a:ln w="12700">
            <a:solidFill>
              <a:srgbClr val="DDE3EC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&amp; Review Plan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645920" y="2880360"/>
            <a:ext cx="8915400" cy="0"/>
          </a:xfrm>
          <a:prstGeom prst="line">
            <a:avLst/>
          </a:prstGeom>
          <a:noFill/>
          <a:ln w="381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47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abstract, team roles finalised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2679192"/>
            <a:ext cx="402336" cy="402336"/>
          </a:xfrm>
          <a:prstGeom prst="ellipse">
            <a:avLst/>
          </a:prstGeom>
          <a:solidFill>
            <a:srgbClr val="A4161A"/>
          </a:solidFill>
          <a:ln w="25400">
            <a:solidFill>
              <a:srgbClr val="A416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survey, gap, objectives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883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frozen; tuning and real-data validation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0360152" y="26791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9AA5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72600" y="2148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3726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demo, results, report, paper draft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434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= completed reviews; hollow circles = upcoming reviews.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F6E6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the remaining weeks:  </a:t>
            </a: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marketplace listings, add k-fold cross-validation and hyper-parameter tuning, deploy the app on a cloud host, then finalise the report and paper draft.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Conclusion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web app and REST API that estimate a fair resale price, with a ±5% band, for Indian used cars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1B2A55"/>
          </a:solidFill>
          <a:ln w="12700">
            <a:solidFill>
              <a:srgbClr val="1B2A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TARGET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above 85% and response under 1 s. Achieved: R² 98.02%, MAE ₹0.37 L, latency &lt; 15 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6916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LAB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0574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Buyers, sellers, dealers and online marketplaces; deployable on any Python-capable cloud host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1605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4805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prices in India are set by subjective markups because no standard, data-driven reference exists. The surveyed studies rely on small or single-city data and stop at model comparison, which leaves a gap for a multi-brand, deployable estimator. Our Gradient Boosting pipeline reaches R² 98.02% and serves a fair price band in under 15 ms through a Flask web app and REST API. Future scope: retrain on real marketplace listings and add accident-history and location features.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style, numbered in the order they are cited in the slides.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3657600"/>
          </a:xfrm>
          <a:prstGeom prst="roundRect">
            <a:avLst>
              <a:gd name="adj" fmla="val 2000"/>
            </a:avLst>
          </a:prstGeom>
          <a:solidFill>
            <a:srgbClr val="F1F4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691640"/>
            <a:ext cx="104241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C. Longani, S. P. Potharaju and S. Deore, "Price prediction for pre-owned cars using ensemble machine learning techniques," in Recent Trends in Intensive Computing, M. Rajesh et al., Eds. Amsterdam, The Netherlands: IOS Press, 2021, pp. 178-187, doi: 10.3233/APC210194.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P. Bhatnagar, G. H. Lokesh, J. Shreyas, F. Flammini and S. Gautam, "An analysis of car price prediction using machine learning," in Proc. 9th Int. Conf. Machine Learning Technologies (ICMLT), Oslo, Norway, 2024, pp. 11-15, doi: 10.1145/3674029.3674032.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J. Lin, "Predicting used car price based on machine learning," in Proc. 1st Int. Conf. E-commerce and Artificial Intelligence (ECAI), SciTePress, 2024, pp. 553-560, doi: 10.5220/0013270500004568.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Y. Wang, "Price prediction of Ford cars applying multiple machine learning methods," in Proc. 1st Int. Conf. E-commerce and Artificial Intelligence (ECAI), SciTePress, 2024, pp. 280-285, doi: 10.5220/0013214800004568.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F. Pedregosa et al., "Scikit-learn: Machine learning in Python," J. Mach. Learn. Res., vol. 12, pp. 2825-2830, 2011.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T. Hastie, R. Tibshirani and J. Friedman, The Elements of Statistical Learning, 2nd ed. New York, NY, USA: Springer, 2009.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L. Breiman, "Random forests," Machine Learning, vol. 45, no. 1, pp. 5-32, 2001.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J. H. Friedman, "Greedy function approximation: A gradient boosting machine," Ann. Statist., vol. 29, no. 5, pp. 1189-1232, 2001.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416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[1]-[4] are the surveyed papers (slide 5); [5]-[8] support the methodology (slide 9).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  |  KLH University, Bowrampet Campus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A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25400">
            <a:solidFill>
              <a:srgbClr val="2E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B Rishik  |  Rohan V  |  M Nityay      Guide: Dr. G. S. Raghavendra Sir      Dept. of CSE, KLH Bowrampet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Used Car Price Estimator - Minor Project Review 1</dc:title>
  <dc:subject>KLH University, Bowrampet Campus</dc:subject>
  <dc:creator>B Rishik, Rohan V, M Nityay</dc:creator>
  <cp:lastModifiedBy>B Rishik, Rohan V, M Nityay</cp:lastModifiedBy>
  <cp:revision>1</cp:revision>
  <dcterms:created xsi:type="dcterms:W3CDTF">2026-09-16T05:47:29Z</dcterms:created>
  <dcterms:modified xsi:type="dcterms:W3CDTF">2026-09-16T05:47:29Z</dcterms:modified>
</cp:coreProperties>
</file>